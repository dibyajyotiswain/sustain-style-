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anva Sans Bold" panose="020B0604020202020204" charset="0"/>
      <p:regular r:id="rId11"/>
    </p:embeddedFont>
    <p:embeddedFont>
      <p:font typeface="Carlito" panose="020B0604020202020204" charset="0"/>
      <p:regular r:id="rId12"/>
    </p:embeddedFont>
    <p:embeddedFont>
      <p:font typeface="Radley" panose="020B0604020202020204" charset="0"/>
      <p:regular r:id="rId13"/>
    </p:embeddedFont>
    <p:embeddedFont>
      <p:font typeface="Radley Italics"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7" d="100"/>
          <a:sy n="57" d="100"/>
        </p:scale>
        <p:origin x="387"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hyperlink" Target="https://www.figma.com/proto/UaDRXCFUHRDYz2WPkMcoRx/CLOTH-SHOPPING-APP--Community-?node-id=133-7&amp;p=f&amp;t=RP8dxm4tBiMIf1De-0&amp;scaling=min-zoom&amp;content-scaling=fixed&amp;page-id=0%3A1&amp;starting-point-node-id=133%3A7&amp;show-proto-sidebar=1" TargetMode="External"/><Relationship Id="rId2" Type="http://schemas.openxmlformats.org/officeDocument/2006/relationships/hyperlink" Target="https://www.figma.com/design/UaDRXCFUHRDYz2WPkMcoRx/CLOTH-SHOPPING-APP--Community-?node-id=0-1&amp;p=f&amp;t=RP8dxm4tBiMIf1De-0"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6F0E9"/>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833290" cy="1593725"/>
          </a:xfrm>
        </p:grpSpPr>
        <p:sp>
          <p:nvSpPr>
            <p:cNvPr id="3" name="Freeform 3"/>
            <p:cNvSpPr/>
            <p:nvPr/>
          </p:nvSpPr>
          <p:spPr>
            <a:xfrm>
              <a:off x="0" y="0"/>
              <a:ext cx="2833290" cy="1593725"/>
            </a:xfrm>
            <a:custGeom>
              <a:avLst/>
              <a:gdLst/>
              <a:ahLst/>
              <a:cxnLst/>
              <a:rect l="l" t="t" r="r" b="b"/>
              <a:pathLst>
                <a:path w="2833290" h="1593725">
                  <a:moveTo>
                    <a:pt x="0" y="0"/>
                  </a:moveTo>
                  <a:lnTo>
                    <a:pt x="2833290" y="0"/>
                  </a:lnTo>
                  <a:lnTo>
                    <a:pt x="2833290" y="1593725"/>
                  </a:lnTo>
                  <a:lnTo>
                    <a:pt x="0" y="1593725"/>
                  </a:lnTo>
                  <a:close/>
                </a:path>
              </a:pathLst>
            </a:custGeom>
            <a:blipFill>
              <a:blip r:embed="rId2">
                <a:alphaModFix amt="36000"/>
              </a:blip>
              <a:stretch>
                <a:fillRect t="-23555" b="-23555"/>
              </a:stretch>
            </a:blipFill>
          </p:spPr>
        </p:sp>
      </p:grpSp>
      <p:grpSp>
        <p:nvGrpSpPr>
          <p:cNvPr id="4" name="Group 4"/>
          <p:cNvGrpSpPr/>
          <p:nvPr/>
        </p:nvGrpSpPr>
        <p:grpSpPr>
          <a:xfrm>
            <a:off x="666750" y="666750"/>
            <a:ext cx="16954500" cy="2172955"/>
            <a:chOff x="0" y="0"/>
            <a:chExt cx="22606000" cy="2897274"/>
          </a:xfrm>
        </p:grpSpPr>
        <p:sp>
          <p:nvSpPr>
            <p:cNvPr id="5" name="AutoShape 5"/>
            <p:cNvSpPr/>
            <p:nvPr/>
          </p:nvSpPr>
          <p:spPr>
            <a:xfrm>
              <a:off x="0" y="2884574"/>
              <a:ext cx="22606000" cy="0"/>
            </a:xfrm>
            <a:prstGeom prst="line">
              <a:avLst/>
            </a:prstGeom>
            <a:ln w="25400" cap="flat">
              <a:solidFill>
                <a:srgbClr val="4D664D"/>
              </a:solidFill>
              <a:prstDash val="solid"/>
              <a:headEnd type="none" w="sm" len="sm"/>
              <a:tailEnd type="none" w="sm" len="sm"/>
            </a:ln>
          </p:spPr>
        </p:sp>
        <p:sp>
          <p:nvSpPr>
            <p:cNvPr id="6" name="TextBox 6"/>
            <p:cNvSpPr txBox="1"/>
            <p:nvPr/>
          </p:nvSpPr>
          <p:spPr>
            <a:xfrm>
              <a:off x="0" y="266700"/>
              <a:ext cx="22606000" cy="2630574"/>
            </a:xfrm>
            <a:prstGeom prst="rect">
              <a:avLst/>
            </a:prstGeom>
          </p:spPr>
          <p:txBody>
            <a:bodyPr lIns="0" tIns="0" rIns="0" bIns="0" rtlCol="0" anchor="t">
              <a:spAutoFit/>
            </a:bodyPr>
            <a:lstStyle/>
            <a:p>
              <a:pPr marL="0" lvl="0" indent="0" algn="ctr">
                <a:lnSpc>
                  <a:spcPts val="14299"/>
                </a:lnSpc>
              </a:pPr>
              <a:r>
                <a:rPr lang="en-US" sz="14299" u="none" spc="-285" dirty="0">
                  <a:solidFill>
                    <a:srgbClr val="4D664D"/>
                  </a:solidFill>
                  <a:latin typeface="Radley"/>
                  <a:ea typeface="Radley"/>
                  <a:cs typeface="Radley"/>
                  <a:sym typeface="Radley"/>
                </a:rPr>
                <a:t>Eco Sustainable App</a:t>
              </a:r>
            </a:p>
          </p:txBody>
        </p:sp>
      </p:grpSp>
      <p:sp>
        <p:nvSpPr>
          <p:cNvPr id="7" name="TextBox 7"/>
          <p:cNvSpPr txBox="1"/>
          <p:nvPr/>
        </p:nvSpPr>
        <p:spPr>
          <a:xfrm>
            <a:off x="12860066" y="8964574"/>
            <a:ext cx="5242303" cy="516936"/>
          </a:xfrm>
          <a:prstGeom prst="rect">
            <a:avLst/>
          </a:prstGeom>
        </p:spPr>
        <p:txBody>
          <a:bodyPr lIns="0" tIns="0" rIns="0" bIns="0" rtlCol="0" anchor="t">
            <a:spAutoFit/>
          </a:bodyPr>
          <a:lstStyle/>
          <a:p>
            <a:pPr algn="l">
              <a:lnSpc>
                <a:spcPts val="3994"/>
              </a:lnSpc>
            </a:pPr>
            <a:r>
              <a:rPr lang="en-US" sz="3994" b="1" dirty="0">
                <a:solidFill>
                  <a:srgbClr val="4D664D"/>
                </a:solidFill>
                <a:latin typeface="Canva Sans Bold"/>
                <a:ea typeface="Canva Sans Bold"/>
                <a:cs typeface="Canva Sans Bold"/>
                <a:sym typeface="Canva Sans Bold"/>
              </a:rPr>
              <a:t>By-Dibyajyoti Swain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7D7C5"/>
        </a:solidFill>
        <a:effectLst/>
      </p:bgPr>
    </p:bg>
    <p:spTree>
      <p:nvGrpSpPr>
        <p:cNvPr id="1" name=""/>
        <p:cNvGrpSpPr/>
        <p:nvPr/>
      </p:nvGrpSpPr>
      <p:grpSpPr>
        <a:xfrm>
          <a:off x="0" y="0"/>
          <a:ext cx="0" cy="0"/>
          <a:chOff x="0" y="0"/>
          <a:chExt cx="0" cy="0"/>
        </a:xfrm>
      </p:grpSpPr>
      <p:grpSp>
        <p:nvGrpSpPr>
          <p:cNvPr id="2" name="Group 2"/>
          <p:cNvGrpSpPr/>
          <p:nvPr/>
        </p:nvGrpSpPr>
        <p:grpSpPr>
          <a:xfrm>
            <a:off x="10429875" y="0"/>
            <a:ext cx="7858125" cy="10287000"/>
            <a:chOff x="0" y="0"/>
            <a:chExt cx="1217429" cy="1593725"/>
          </a:xfrm>
        </p:grpSpPr>
        <p:sp>
          <p:nvSpPr>
            <p:cNvPr id="3" name="Freeform 3"/>
            <p:cNvSpPr/>
            <p:nvPr/>
          </p:nvSpPr>
          <p:spPr>
            <a:xfrm>
              <a:off x="0" y="0"/>
              <a:ext cx="1217429" cy="1593725"/>
            </a:xfrm>
            <a:custGeom>
              <a:avLst/>
              <a:gdLst/>
              <a:ahLst/>
              <a:cxnLst/>
              <a:rect l="l" t="t" r="r" b="b"/>
              <a:pathLst>
                <a:path w="1217429" h="1593725">
                  <a:moveTo>
                    <a:pt x="0" y="0"/>
                  </a:moveTo>
                  <a:lnTo>
                    <a:pt x="1217429" y="0"/>
                  </a:lnTo>
                  <a:lnTo>
                    <a:pt x="1217429" y="1593725"/>
                  </a:lnTo>
                  <a:lnTo>
                    <a:pt x="0" y="1593725"/>
                  </a:lnTo>
                  <a:close/>
                </a:path>
              </a:pathLst>
            </a:custGeom>
            <a:blipFill>
              <a:blip r:embed="rId2"/>
              <a:stretch>
                <a:fillRect t="-255" b="-255"/>
              </a:stretch>
            </a:blipFill>
          </p:spPr>
        </p:sp>
      </p:grpSp>
      <p:sp>
        <p:nvSpPr>
          <p:cNvPr id="4" name="TextBox 4"/>
          <p:cNvSpPr txBox="1"/>
          <p:nvPr/>
        </p:nvSpPr>
        <p:spPr>
          <a:xfrm>
            <a:off x="819096" y="358587"/>
            <a:ext cx="8324904" cy="1767969"/>
          </a:xfrm>
          <a:prstGeom prst="rect">
            <a:avLst/>
          </a:prstGeom>
        </p:spPr>
        <p:txBody>
          <a:bodyPr lIns="0" tIns="0" rIns="0" bIns="0" rtlCol="0" anchor="t">
            <a:spAutoFit/>
          </a:bodyPr>
          <a:lstStyle/>
          <a:p>
            <a:pPr marL="0" lvl="0" indent="0" algn="ctr">
              <a:lnSpc>
                <a:spcPts val="6944"/>
              </a:lnSpc>
              <a:spcBef>
                <a:spcPct val="0"/>
              </a:spcBef>
            </a:pPr>
            <a:r>
              <a:rPr lang="en-US" sz="6200" i="1">
                <a:solidFill>
                  <a:srgbClr val="4D664D"/>
                </a:solidFill>
                <a:latin typeface="Radley Italics"/>
                <a:ea typeface="Radley Italics"/>
                <a:cs typeface="Radley Italics"/>
                <a:sym typeface="Radley Italics"/>
              </a:rPr>
              <a:t>Research and Problem Understanding</a:t>
            </a:r>
          </a:p>
        </p:txBody>
      </p:sp>
      <p:sp>
        <p:nvSpPr>
          <p:cNvPr id="5" name="TextBox 5"/>
          <p:cNvSpPr txBox="1"/>
          <p:nvPr/>
        </p:nvSpPr>
        <p:spPr>
          <a:xfrm>
            <a:off x="686495" y="2305914"/>
            <a:ext cx="9098364" cy="5457825"/>
          </a:xfrm>
          <a:prstGeom prst="rect">
            <a:avLst/>
          </a:prstGeom>
        </p:spPr>
        <p:txBody>
          <a:bodyPr lIns="0" tIns="0" rIns="0" bIns="0" rtlCol="0" anchor="t">
            <a:spAutoFit/>
          </a:bodyPr>
          <a:lstStyle/>
          <a:p>
            <a:pPr marL="0" lvl="0" indent="0" algn="l">
              <a:lnSpc>
                <a:spcPts val="3959"/>
              </a:lnSpc>
              <a:spcBef>
                <a:spcPct val="0"/>
              </a:spcBef>
            </a:pPr>
            <a:r>
              <a:rPr lang="en-US" sz="3299">
                <a:solidFill>
                  <a:srgbClr val="4D664D"/>
                </a:solidFill>
                <a:latin typeface="Radley"/>
                <a:ea typeface="Radley"/>
                <a:cs typeface="Radley"/>
                <a:sym typeface="Radley"/>
              </a:rPr>
              <a:t>Fast fash</a:t>
            </a:r>
            <a:r>
              <a:rPr lang="en-US" sz="3299" u="none">
                <a:solidFill>
                  <a:srgbClr val="4D664D"/>
                </a:solidFill>
                <a:latin typeface="Radley"/>
                <a:ea typeface="Radley"/>
                <a:cs typeface="Radley"/>
                <a:sym typeface="Radley"/>
              </a:rPr>
              <a:t>ion significantly harms the environment through high carbon emissions, water pollution, microfiber release, and textile waste. Despite growing sustainability awareness, consumers—especially Gen Z—continue frequent purchases due to low prices, trends, and social media influence, leading to overconsumption and short garment lifespans. Existing sustainable fashion apps lack reliable supply-chain data, clear eco-impact insights, and effective user motivation, limiting their impact.</a:t>
            </a:r>
          </a:p>
        </p:txBody>
      </p:sp>
      <p:sp>
        <p:nvSpPr>
          <p:cNvPr id="6" name="AutoShape 6"/>
          <p:cNvSpPr/>
          <p:nvPr/>
        </p:nvSpPr>
        <p:spPr>
          <a:xfrm>
            <a:off x="1161302" y="2315439"/>
            <a:ext cx="7982698" cy="0"/>
          </a:xfrm>
          <a:prstGeom prst="line">
            <a:avLst/>
          </a:prstGeom>
          <a:ln w="19050" cap="flat">
            <a:solidFill>
              <a:srgbClr val="4D664D"/>
            </a:solidFill>
            <a:prstDash val="solid"/>
            <a:headEnd type="none" w="sm" len="sm"/>
            <a:tailEnd type="none" w="sm" len="sm"/>
          </a:ln>
        </p:spPr>
      </p:sp>
      <p:sp>
        <p:nvSpPr>
          <p:cNvPr id="7" name="TextBox 7"/>
          <p:cNvSpPr txBox="1"/>
          <p:nvPr/>
        </p:nvSpPr>
        <p:spPr>
          <a:xfrm>
            <a:off x="666750" y="7897089"/>
            <a:ext cx="9118109" cy="1219200"/>
          </a:xfrm>
          <a:prstGeom prst="rect">
            <a:avLst/>
          </a:prstGeom>
        </p:spPr>
        <p:txBody>
          <a:bodyPr lIns="0" tIns="0" rIns="0" bIns="0" rtlCol="0" anchor="t">
            <a:spAutoFit/>
          </a:bodyPr>
          <a:lstStyle/>
          <a:p>
            <a:pPr marL="0" lvl="0" indent="0" algn="l">
              <a:lnSpc>
                <a:spcPts val="3075"/>
              </a:lnSpc>
            </a:pPr>
            <a:r>
              <a:rPr lang="en-US" sz="2562">
                <a:solidFill>
                  <a:srgbClr val="4D664D"/>
                </a:solidFill>
                <a:latin typeface="Carlito"/>
                <a:ea typeface="Carlito"/>
                <a:cs typeface="Carlito"/>
                <a:sym typeface="Carlito"/>
              </a:rPr>
              <a:t>App Goal: SustainStyle aims to promote sustainable fashion choices using real-time eco-impact scores, AI-driven recommendations, and reward-based engagement.</a:t>
            </a:r>
          </a:p>
        </p:txBody>
      </p:sp>
      <p:grpSp>
        <p:nvGrpSpPr>
          <p:cNvPr id="8" name="Group 8"/>
          <p:cNvGrpSpPr/>
          <p:nvPr/>
        </p:nvGrpSpPr>
        <p:grpSpPr>
          <a:xfrm>
            <a:off x="666750" y="9184102"/>
            <a:ext cx="2171730" cy="2205796"/>
            <a:chOff x="0" y="0"/>
            <a:chExt cx="812800" cy="825500"/>
          </a:xfrm>
        </p:grpSpPr>
        <p:sp>
          <p:nvSpPr>
            <p:cNvPr id="9" name="Freeform 9"/>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4D664D"/>
            </a:solidFill>
          </p:spPr>
        </p:sp>
        <p:sp>
          <p:nvSpPr>
            <p:cNvPr id="10" name="TextBox 10"/>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7D7C5"/>
        </a:solidFill>
        <a:effectLst/>
      </p:bgPr>
    </p:bg>
    <p:spTree>
      <p:nvGrpSpPr>
        <p:cNvPr id="1" name=""/>
        <p:cNvGrpSpPr/>
        <p:nvPr/>
      </p:nvGrpSpPr>
      <p:grpSpPr>
        <a:xfrm>
          <a:off x="0" y="0"/>
          <a:ext cx="0" cy="0"/>
          <a:chOff x="0" y="0"/>
          <a:chExt cx="0" cy="0"/>
        </a:xfrm>
      </p:grpSpPr>
      <p:sp>
        <p:nvSpPr>
          <p:cNvPr id="2" name="Freeform 2"/>
          <p:cNvSpPr/>
          <p:nvPr/>
        </p:nvSpPr>
        <p:spPr>
          <a:xfrm>
            <a:off x="-14243" y="0"/>
            <a:ext cx="18302243" cy="10313587"/>
          </a:xfrm>
          <a:custGeom>
            <a:avLst/>
            <a:gdLst/>
            <a:ahLst/>
            <a:cxnLst/>
            <a:rect l="l" t="t" r="r" b="b"/>
            <a:pathLst>
              <a:path w="18302243" h="10313587">
                <a:moveTo>
                  <a:pt x="0" y="0"/>
                </a:moveTo>
                <a:lnTo>
                  <a:pt x="18302243" y="0"/>
                </a:lnTo>
                <a:lnTo>
                  <a:pt x="18302243" y="10313587"/>
                </a:lnTo>
                <a:lnTo>
                  <a:pt x="0" y="10313587"/>
                </a:lnTo>
                <a:lnTo>
                  <a:pt x="0" y="0"/>
                </a:lnTo>
                <a:close/>
              </a:path>
            </a:pathLst>
          </a:custGeom>
          <a:blipFill>
            <a:blip r:embed="rId2">
              <a:alphaModFix amt="31999"/>
            </a:blip>
            <a:stretch>
              <a:fillRect t="-38728" b="-38728"/>
            </a:stretch>
          </a:blipFill>
        </p:spPr>
      </p:sp>
      <p:sp>
        <p:nvSpPr>
          <p:cNvPr id="3" name="TextBox 3"/>
          <p:cNvSpPr txBox="1"/>
          <p:nvPr/>
        </p:nvSpPr>
        <p:spPr>
          <a:xfrm>
            <a:off x="478678" y="1085850"/>
            <a:ext cx="15251722" cy="1167721"/>
          </a:xfrm>
          <a:prstGeom prst="rect">
            <a:avLst/>
          </a:prstGeom>
        </p:spPr>
        <p:txBody>
          <a:bodyPr lIns="0" tIns="0" rIns="0" bIns="0" rtlCol="0" anchor="t">
            <a:spAutoFit/>
          </a:bodyPr>
          <a:lstStyle/>
          <a:p>
            <a:pPr marL="0" lvl="0" indent="0" algn="l">
              <a:lnSpc>
                <a:spcPts val="9025"/>
              </a:lnSpc>
              <a:spcBef>
                <a:spcPct val="0"/>
              </a:spcBef>
            </a:pPr>
            <a:r>
              <a:rPr lang="en-US" sz="8058">
                <a:solidFill>
                  <a:srgbClr val="4D664D"/>
                </a:solidFill>
                <a:latin typeface="Radley"/>
                <a:ea typeface="Radley"/>
                <a:cs typeface="Radley"/>
                <a:sym typeface="Radley"/>
              </a:rPr>
              <a:t>SOLUTION– SUSTAINSTYLE</a:t>
            </a:r>
          </a:p>
        </p:txBody>
      </p:sp>
      <p:sp>
        <p:nvSpPr>
          <p:cNvPr id="4" name="TextBox 4"/>
          <p:cNvSpPr txBox="1"/>
          <p:nvPr/>
        </p:nvSpPr>
        <p:spPr>
          <a:xfrm>
            <a:off x="478678" y="2746389"/>
            <a:ext cx="16780622" cy="5397650"/>
          </a:xfrm>
          <a:prstGeom prst="rect">
            <a:avLst/>
          </a:prstGeom>
        </p:spPr>
        <p:txBody>
          <a:bodyPr lIns="0" tIns="0" rIns="0" bIns="0" rtlCol="0" anchor="t">
            <a:spAutoFit/>
          </a:bodyPr>
          <a:lstStyle/>
          <a:p>
            <a:pPr algn="l">
              <a:lnSpc>
                <a:spcPts val="7141"/>
              </a:lnSpc>
              <a:spcBef>
                <a:spcPct val="0"/>
              </a:spcBef>
            </a:pPr>
            <a:r>
              <a:rPr lang="en-US" sz="5100">
                <a:gradFill>
                  <a:gsLst>
                    <a:gs pos="0">
                      <a:srgbClr val="0E2878">
                        <a:alpha val="100000"/>
                      </a:srgbClr>
                    </a:gs>
                    <a:gs pos="100000">
                      <a:srgbClr val="2C6627">
                        <a:alpha val="100000"/>
                      </a:srgbClr>
                    </a:gs>
                  </a:gsLst>
                  <a:path path="circle">
                    <a:fillToRect l="50000" t="50000" r="50000" b="50000"/>
                  </a:path>
                </a:gradFill>
                <a:latin typeface="Radley"/>
                <a:ea typeface="Radley"/>
                <a:cs typeface="Radley"/>
                <a:sym typeface="Radley"/>
              </a:rPr>
              <a:t>SustainStyle is a mobile app prototype that helps users make eco-friendly fashion decisions by:</a:t>
            </a:r>
          </a:p>
          <a:p>
            <a:pPr marL="1101280" lvl="1" indent="-550640" algn="l">
              <a:lnSpc>
                <a:spcPts val="7141"/>
              </a:lnSpc>
              <a:buFont typeface="Arial"/>
              <a:buChar char="•"/>
            </a:pPr>
            <a:r>
              <a:rPr lang="en-US" sz="5100">
                <a:gradFill>
                  <a:gsLst>
                    <a:gs pos="0">
                      <a:srgbClr val="0E2878">
                        <a:alpha val="100000"/>
                      </a:srgbClr>
                    </a:gs>
                    <a:gs pos="100000">
                      <a:srgbClr val="2C6627">
                        <a:alpha val="100000"/>
                      </a:srgbClr>
                    </a:gs>
                  </a:gsLst>
                  <a:path path="circle">
                    <a:fillToRect l="50000" t="50000" r="50000" b="50000"/>
                  </a:path>
                </a:gradFill>
                <a:latin typeface="Radley"/>
                <a:ea typeface="Radley"/>
                <a:cs typeface="Radley"/>
                <a:sym typeface="Radley"/>
              </a:rPr>
              <a:t>Scanning clothing products</a:t>
            </a:r>
          </a:p>
          <a:p>
            <a:pPr marL="1101280" lvl="1" indent="-550640" algn="l">
              <a:lnSpc>
                <a:spcPts val="7141"/>
              </a:lnSpc>
              <a:buFont typeface="Arial"/>
              <a:buChar char="•"/>
            </a:pPr>
            <a:r>
              <a:rPr lang="en-US" sz="5100">
                <a:gradFill>
                  <a:gsLst>
                    <a:gs pos="0">
                      <a:srgbClr val="0E2878">
                        <a:alpha val="100000"/>
                      </a:srgbClr>
                    </a:gs>
                    <a:gs pos="100000">
                      <a:srgbClr val="2C6627">
                        <a:alpha val="100000"/>
                      </a:srgbClr>
                    </a:gs>
                  </a:gsLst>
                  <a:path path="circle">
                    <a:fillToRect l="50000" t="50000" r="50000" b="50000"/>
                  </a:path>
                </a:gradFill>
                <a:latin typeface="Radley"/>
                <a:ea typeface="Radley"/>
                <a:cs typeface="Radley"/>
                <a:sym typeface="Radley"/>
              </a:rPr>
              <a:t>Displaying sustainability (EcoScore)</a:t>
            </a:r>
          </a:p>
          <a:p>
            <a:pPr marL="1101280" lvl="1" indent="-550640" algn="l">
              <a:lnSpc>
                <a:spcPts val="7141"/>
              </a:lnSpc>
              <a:buFont typeface="Arial"/>
              <a:buChar char="•"/>
            </a:pPr>
            <a:r>
              <a:rPr lang="en-US" sz="5100">
                <a:gradFill>
                  <a:gsLst>
                    <a:gs pos="0">
                      <a:srgbClr val="0E2878">
                        <a:alpha val="100000"/>
                      </a:srgbClr>
                    </a:gs>
                    <a:gs pos="100000">
                      <a:srgbClr val="2C6627">
                        <a:alpha val="100000"/>
                      </a:srgbClr>
                    </a:gs>
                  </a:gsLst>
                  <a:path path="circle">
                    <a:fillToRect l="50000" t="50000" r="50000" b="50000"/>
                  </a:path>
                </a:gradFill>
                <a:latin typeface="Radley"/>
                <a:ea typeface="Radley"/>
                <a:cs typeface="Radley"/>
                <a:sym typeface="Radley"/>
              </a:rPr>
              <a:t>Recommending greener alternatives</a:t>
            </a:r>
          </a:p>
          <a:p>
            <a:pPr marL="1101280" lvl="1" indent="-550640" algn="l">
              <a:lnSpc>
                <a:spcPts val="7141"/>
              </a:lnSpc>
              <a:buFont typeface="Arial"/>
              <a:buChar char="•"/>
            </a:pPr>
            <a:r>
              <a:rPr lang="en-US" sz="5100">
                <a:gradFill>
                  <a:gsLst>
                    <a:gs pos="0">
                      <a:srgbClr val="0E2878">
                        <a:alpha val="100000"/>
                      </a:srgbClr>
                    </a:gs>
                    <a:gs pos="100000">
                      <a:srgbClr val="2C6627">
                        <a:alpha val="100000"/>
                      </a:srgbClr>
                    </a:gs>
                  </a:gsLst>
                  <a:path path="circle">
                    <a:fillToRect l="50000" t="50000" r="50000" b="50000"/>
                  </a:path>
                </a:gradFill>
                <a:latin typeface="Radley"/>
                <a:ea typeface="Radley"/>
                <a:cs typeface="Radley"/>
                <a:sym typeface="Radley"/>
              </a:rPr>
              <a:t>Rewarding eco-friendly actions through GreenPoints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F0E9"/>
        </a:solidFill>
        <a:effectLst/>
      </p:bgPr>
    </p:bg>
    <p:spTree>
      <p:nvGrpSpPr>
        <p:cNvPr id="1" name=""/>
        <p:cNvGrpSpPr/>
        <p:nvPr/>
      </p:nvGrpSpPr>
      <p:grpSpPr>
        <a:xfrm>
          <a:off x="0" y="0"/>
          <a:ext cx="0" cy="0"/>
          <a:chOff x="0" y="0"/>
          <a:chExt cx="0" cy="0"/>
        </a:xfrm>
      </p:grpSpPr>
      <p:sp>
        <p:nvSpPr>
          <p:cNvPr id="2" name="TextBox 2"/>
          <p:cNvSpPr txBox="1"/>
          <p:nvPr/>
        </p:nvSpPr>
        <p:spPr>
          <a:xfrm>
            <a:off x="333375" y="539317"/>
            <a:ext cx="17621250" cy="8745099"/>
          </a:xfrm>
          <a:prstGeom prst="rect">
            <a:avLst/>
          </a:prstGeom>
        </p:spPr>
        <p:txBody>
          <a:bodyPr lIns="0" tIns="0" rIns="0" bIns="0" rtlCol="0" anchor="t">
            <a:spAutoFit/>
          </a:bodyPr>
          <a:lstStyle/>
          <a:p>
            <a:pPr marL="0" lvl="0" indent="0" algn="l">
              <a:lnSpc>
                <a:spcPts val="6650"/>
              </a:lnSpc>
              <a:spcBef>
                <a:spcPct val="0"/>
              </a:spcBef>
            </a:pPr>
            <a:r>
              <a:rPr lang="en-US" sz="5938">
                <a:solidFill>
                  <a:srgbClr val="4D664D"/>
                </a:solidFill>
                <a:latin typeface="Radley"/>
                <a:ea typeface="Radley"/>
                <a:cs typeface="Radley"/>
                <a:sym typeface="Radley"/>
              </a:rPr>
              <a:t>DESIGN &amp; PROTOTYPING TOOL</a:t>
            </a:r>
          </a:p>
          <a:p>
            <a:pPr marL="0" lvl="0" indent="0" algn="l">
              <a:lnSpc>
                <a:spcPts val="3850"/>
              </a:lnSpc>
              <a:spcBef>
                <a:spcPct val="0"/>
              </a:spcBef>
            </a:pPr>
            <a:endParaRPr lang="en-US" sz="5938">
              <a:solidFill>
                <a:srgbClr val="4D664D"/>
              </a:solidFill>
              <a:latin typeface="Radley"/>
              <a:ea typeface="Radley"/>
              <a:cs typeface="Radley"/>
              <a:sym typeface="Radley"/>
            </a:endParaRPr>
          </a:p>
          <a:p>
            <a:pPr marL="1260434" lvl="1" indent="-630217" algn="l">
              <a:lnSpc>
                <a:spcPts val="6538"/>
              </a:lnSpc>
              <a:spcBef>
                <a:spcPct val="0"/>
              </a:spcBef>
              <a:buFont typeface="Arial"/>
              <a:buChar char="•"/>
            </a:pPr>
            <a:r>
              <a:rPr lang="en-US" sz="5838">
                <a:solidFill>
                  <a:srgbClr val="4D664D"/>
                </a:solidFill>
                <a:latin typeface="Radley"/>
                <a:ea typeface="Radley"/>
                <a:cs typeface="Radley"/>
                <a:sym typeface="Radley"/>
              </a:rPr>
              <a:t>The complete app interface was designed in Figma</a:t>
            </a:r>
          </a:p>
          <a:p>
            <a:pPr marL="1260434" lvl="1" indent="-630217" algn="l">
              <a:lnSpc>
                <a:spcPts val="6538"/>
              </a:lnSpc>
              <a:spcBef>
                <a:spcPct val="0"/>
              </a:spcBef>
              <a:buFont typeface="Arial"/>
              <a:buChar char="•"/>
            </a:pPr>
            <a:r>
              <a:rPr lang="en-US" sz="5838">
                <a:solidFill>
                  <a:srgbClr val="4D664D"/>
                </a:solidFill>
                <a:latin typeface="Radley"/>
                <a:ea typeface="Radley"/>
                <a:cs typeface="Radley"/>
                <a:sym typeface="Radley"/>
              </a:rPr>
              <a:t>Includes:</a:t>
            </a:r>
          </a:p>
          <a:p>
            <a:pPr marL="2520868" lvl="2" indent="-840289" algn="l">
              <a:lnSpc>
                <a:spcPts val="6538"/>
              </a:lnSpc>
              <a:spcBef>
                <a:spcPct val="0"/>
              </a:spcBef>
              <a:buFont typeface="Arial"/>
              <a:buChar char="⚬"/>
            </a:pPr>
            <a:r>
              <a:rPr lang="en-US" sz="5838">
                <a:solidFill>
                  <a:srgbClr val="4D664D"/>
                </a:solidFill>
                <a:latin typeface="Radley"/>
                <a:ea typeface="Radley"/>
                <a:cs typeface="Radley"/>
                <a:sym typeface="Radley"/>
              </a:rPr>
              <a:t>Clean UI design</a:t>
            </a:r>
          </a:p>
          <a:p>
            <a:pPr marL="2520868" lvl="2" indent="-840289" algn="l">
              <a:lnSpc>
                <a:spcPts val="6538"/>
              </a:lnSpc>
              <a:spcBef>
                <a:spcPct val="0"/>
              </a:spcBef>
              <a:buFont typeface="Arial"/>
              <a:buChar char="⚬"/>
            </a:pPr>
            <a:r>
              <a:rPr lang="en-US" sz="5838">
                <a:solidFill>
                  <a:srgbClr val="4D664D"/>
                </a:solidFill>
                <a:latin typeface="Radley"/>
                <a:ea typeface="Radley"/>
                <a:cs typeface="Radley"/>
                <a:sym typeface="Radley"/>
              </a:rPr>
              <a:t>Clickable navigation</a:t>
            </a:r>
          </a:p>
          <a:p>
            <a:pPr marL="2520868" lvl="2" indent="-840289" algn="l">
              <a:lnSpc>
                <a:spcPts val="6538"/>
              </a:lnSpc>
              <a:spcBef>
                <a:spcPct val="0"/>
              </a:spcBef>
              <a:buFont typeface="Arial"/>
              <a:buChar char="⚬"/>
            </a:pPr>
            <a:r>
              <a:rPr lang="en-US" sz="5838">
                <a:solidFill>
                  <a:srgbClr val="4D664D"/>
                </a:solidFill>
                <a:latin typeface="Radley"/>
                <a:ea typeface="Radley"/>
                <a:cs typeface="Radley"/>
                <a:sym typeface="Radley"/>
              </a:rPr>
              <a:t>Simulated scanning experience</a:t>
            </a:r>
          </a:p>
          <a:p>
            <a:pPr marL="2520868" lvl="2" indent="-840289" algn="l">
              <a:lnSpc>
                <a:spcPts val="6538"/>
              </a:lnSpc>
              <a:spcBef>
                <a:spcPct val="0"/>
              </a:spcBef>
              <a:buFont typeface="Arial"/>
              <a:buChar char="⚬"/>
            </a:pPr>
            <a:r>
              <a:rPr lang="en-US" sz="5838">
                <a:solidFill>
                  <a:srgbClr val="4D664D"/>
                </a:solidFill>
                <a:latin typeface="Radley"/>
                <a:ea typeface="Radley"/>
                <a:cs typeface="Radley"/>
                <a:sym typeface="Radley"/>
              </a:rPr>
              <a:t>Interactive GreenPoints dashboard</a:t>
            </a:r>
          </a:p>
          <a:p>
            <a:pPr marL="0" lvl="0" indent="0" algn="l">
              <a:lnSpc>
                <a:spcPts val="6538"/>
              </a:lnSpc>
              <a:spcBef>
                <a:spcPct val="0"/>
              </a:spcBef>
            </a:pPr>
            <a:r>
              <a:rPr lang="en-US" sz="5838">
                <a:solidFill>
                  <a:srgbClr val="4D664D"/>
                </a:solidFill>
                <a:latin typeface="Radley"/>
                <a:ea typeface="Radley"/>
                <a:cs typeface="Radley"/>
                <a:sym typeface="Radley"/>
              </a:rPr>
              <a:t>Figma allowed rapid prototyping and realistic user interaction.</a:t>
            </a:r>
          </a:p>
          <a:p>
            <a:pPr marL="0" lvl="0" indent="0" algn="l">
              <a:lnSpc>
                <a:spcPts val="6202"/>
              </a:lnSpc>
              <a:spcBef>
                <a:spcPct val="0"/>
              </a:spcBef>
            </a:pPr>
            <a:endParaRPr lang="en-US" sz="5838">
              <a:solidFill>
                <a:srgbClr val="4D664D"/>
              </a:solidFill>
              <a:latin typeface="Radley"/>
              <a:ea typeface="Radley"/>
              <a:cs typeface="Radley"/>
              <a:sym typeface="Radley"/>
            </a:endParaRPr>
          </a:p>
        </p:txBody>
      </p:sp>
      <p:grpSp>
        <p:nvGrpSpPr>
          <p:cNvPr id="3" name="Group 3"/>
          <p:cNvGrpSpPr/>
          <p:nvPr/>
        </p:nvGrpSpPr>
        <p:grpSpPr>
          <a:xfrm>
            <a:off x="666750" y="9184102"/>
            <a:ext cx="2171730" cy="2205796"/>
            <a:chOff x="0" y="0"/>
            <a:chExt cx="812800" cy="825500"/>
          </a:xfrm>
        </p:grpSpPr>
        <p:sp>
          <p:nvSpPr>
            <p:cNvPr id="4" name="Freeform 4"/>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4D664D"/>
            </a:solidFill>
          </p:spPr>
        </p:sp>
        <p:sp>
          <p:nvSpPr>
            <p:cNvPr id="5" name="TextBox 5"/>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6F0E9"/>
        </a:solidFill>
        <a:effectLst/>
      </p:bgPr>
    </p:bg>
    <p:spTree>
      <p:nvGrpSpPr>
        <p:cNvPr id="1" name=""/>
        <p:cNvGrpSpPr/>
        <p:nvPr/>
      </p:nvGrpSpPr>
      <p:grpSpPr>
        <a:xfrm>
          <a:off x="0" y="0"/>
          <a:ext cx="0" cy="0"/>
          <a:chOff x="0" y="0"/>
          <a:chExt cx="0" cy="0"/>
        </a:xfrm>
      </p:grpSpPr>
      <p:sp>
        <p:nvSpPr>
          <p:cNvPr id="2" name="TextBox 2"/>
          <p:cNvSpPr txBox="1"/>
          <p:nvPr/>
        </p:nvSpPr>
        <p:spPr>
          <a:xfrm>
            <a:off x="0" y="888629"/>
            <a:ext cx="18288000" cy="10490561"/>
          </a:xfrm>
          <a:prstGeom prst="rect">
            <a:avLst/>
          </a:prstGeom>
        </p:spPr>
        <p:txBody>
          <a:bodyPr lIns="0" tIns="0" rIns="0" bIns="0" rtlCol="0" anchor="t">
            <a:spAutoFit/>
          </a:bodyPr>
          <a:lstStyle/>
          <a:p>
            <a:pPr algn="l">
              <a:lnSpc>
                <a:spcPts val="4589"/>
              </a:lnSpc>
            </a:pPr>
            <a:endParaRPr/>
          </a:p>
          <a:p>
            <a:pPr algn="l">
              <a:lnSpc>
                <a:spcPts val="4813"/>
              </a:lnSpc>
            </a:pPr>
            <a:r>
              <a:rPr lang="en-US" sz="4298" i="1">
                <a:solidFill>
                  <a:srgbClr val="4D664D"/>
                </a:solidFill>
                <a:latin typeface="Radley Italics"/>
                <a:ea typeface="Radley Italics"/>
                <a:cs typeface="Radley Italics"/>
                <a:sym typeface="Radley Italics"/>
              </a:rPr>
              <a:t>Key App Features Implemented:</a:t>
            </a:r>
          </a:p>
          <a:p>
            <a:pPr marL="884774" lvl="1" indent="-442387" algn="l">
              <a:lnSpc>
                <a:spcPts val="4589"/>
              </a:lnSpc>
              <a:buFont typeface="Arial"/>
              <a:buChar char="•"/>
            </a:pPr>
            <a:r>
              <a:rPr lang="en-US" sz="4098">
                <a:solidFill>
                  <a:srgbClr val="4D664D"/>
                </a:solidFill>
                <a:latin typeface="Radley"/>
                <a:ea typeface="Radley"/>
                <a:cs typeface="Radley"/>
                <a:sym typeface="Radley"/>
              </a:rPr>
              <a:t>Multiple product scanning options:</a:t>
            </a:r>
          </a:p>
          <a:p>
            <a:pPr marL="1769549" lvl="2" indent="-589850" algn="l">
              <a:lnSpc>
                <a:spcPts val="4589"/>
              </a:lnSpc>
              <a:buFont typeface="Arial"/>
              <a:buChar char="⚬"/>
            </a:pPr>
            <a:r>
              <a:rPr lang="en-US" sz="4098">
                <a:solidFill>
                  <a:srgbClr val="4D664D"/>
                </a:solidFill>
                <a:latin typeface="Radley"/>
                <a:ea typeface="Radley"/>
                <a:cs typeface="Radley"/>
                <a:sym typeface="Radley"/>
              </a:rPr>
              <a:t>Barcode scanning</a:t>
            </a:r>
          </a:p>
          <a:p>
            <a:pPr marL="1769549" lvl="2" indent="-589850" algn="l">
              <a:lnSpc>
                <a:spcPts val="4589"/>
              </a:lnSpc>
              <a:buFont typeface="Arial"/>
              <a:buChar char="⚬"/>
            </a:pPr>
            <a:r>
              <a:rPr lang="en-US" sz="4098">
                <a:solidFill>
                  <a:srgbClr val="4D664D"/>
                </a:solidFill>
                <a:latin typeface="Radley"/>
                <a:ea typeface="Radley"/>
                <a:cs typeface="Radley"/>
                <a:sym typeface="Radley"/>
              </a:rPr>
              <a:t>QR code scanning</a:t>
            </a:r>
          </a:p>
          <a:p>
            <a:pPr marL="1769549" lvl="2" indent="-589850" algn="l">
              <a:lnSpc>
                <a:spcPts val="4589"/>
              </a:lnSpc>
              <a:buFont typeface="Arial"/>
              <a:buChar char="⚬"/>
            </a:pPr>
            <a:r>
              <a:rPr lang="en-US" sz="4098">
                <a:solidFill>
                  <a:srgbClr val="4D664D"/>
                </a:solidFill>
                <a:latin typeface="Radley"/>
                <a:ea typeface="Radley"/>
                <a:cs typeface="Radley"/>
                <a:sym typeface="Radley"/>
              </a:rPr>
              <a:t>Style number scanning</a:t>
            </a:r>
          </a:p>
          <a:p>
            <a:pPr algn="l">
              <a:lnSpc>
                <a:spcPts val="4589"/>
              </a:lnSpc>
            </a:pPr>
            <a:endParaRPr lang="en-US" sz="4098">
              <a:solidFill>
                <a:srgbClr val="4D664D"/>
              </a:solidFill>
              <a:latin typeface="Radley"/>
              <a:ea typeface="Radley"/>
              <a:cs typeface="Radley"/>
              <a:sym typeface="Radley"/>
            </a:endParaRPr>
          </a:p>
          <a:p>
            <a:pPr marL="884774" lvl="1" indent="-442387" algn="l">
              <a:lnSpc>
                <a:spcPts val="4589"/>
              </a:lnSpc>
              <a:buFont typeface="Arial"/>
              <a:buChar char="•"/>
            </a:pPr>
            <a:r>
              <a:rPr lang="en-US" sz="4098">
                <a:solidFill>
                  <a:srgbClr val="4D664D"/>
                </a:solidFill>
                <a:latin typeface="Radley"/>
                <a:ea typeface="Radley"/>
                <a:cs typeface="Radley"/>
                <a:sym typeface="Radley"/>
              </a:rPr>
              <a:t>Instant EcoScore generation after product scan.</a:t>
            </a:r>
          </a:p>
          <a:p>
            <a:pPr marL="884774" lvl="1" indent="-442387" algn="l">
              <a:lnSpc>
                <a:spcPts val="4589"/>
              </a:lnSpc>
              <a:buFont typeface="Arial"/>
              <a:buChar char="•"/>
            </a:pPr>
            <a:r>
              <a:rPr lang="en-US" sz="4098">
                <a:solidFill>
                  <a:srgbClr val="4D664D"/>
                </a:solidFill>
                <a:latin typeface="Radley"/>
                <a:ea typeface="Radley"/>
                <a:cs typeface="Radley"/>
                <a:sym typeface="Radley"/>
              </a:rPr>
              <a:t>Smart recommendations for more sustainable alternatives if the EcoScore is low.</a:t>
            </a:r>
          </a:p>
          <a:p>
            <a:pPr marL="884774" lvl="1" indent="-442387" algn="l">
              <a:lnSpc>
                <a:spcPts val="4589"/>
              </a:lnSpc>
              <a:buFont typeface="Arial"/>
              <a:buChar char="•"/>
            </a:pPr>
            <a:r>
              <a:rPr lang="en-US" sz="4098">
                <a:solidFill>
                  <a:srgbClr val="4D664D"/>
                </a:solidFill>
                <a:latin typeface="Radley"/>
                <a:ea typeface="Radley"/>
                <a:cs typeface="Radley"/>
                <a:sym typeface="Radley"/>
              </a:rPr>
              <a:t>GreenPoints system to reward eco-friendly user actions.</a:t>
            </a:r>
          </a:p>
          <a:p>
            <a:pPr marL="884774" lvl="1" indent="-442387" algn="l">
              <a:lnSpc>
                <a:spcPts val="4589"/>
              </a:lnSpc>
              <a:buFont typeface="Arial"/>
              <a:buChar char="•"/>
            </a:pPr>
            <a:r>
              <a:rPr lang="en-US" sz="4098">
                <a:solidFill>
                  <a:srgbClr val="4D664D"/>
                </a:solidFill>
                <a:latin typeface="Radley"/>
                <a:ea typeface="Radley"/>
                <a:cs typeface="Radley"/>
                <a:sym typeface="Radley"/>
              </a:rPr>
              <a:t>Milestone-based rewards, including free sustainable clothing on reaching target points.</a:t>
            </a:r>
          </a:p>
          <a:p>
            <a:pPr marL="884774" lvl="1" indent="-442387" algn="l">
              <a:lnSpc>
                <a:spcPts val="4589"/>
              </a:lnSpc>
              <a:buFont typeface="Arial"/>
              <a:buChar char="•"/>
            </a:pPr>
            <a:r>
              <a:rPr lang="en-US" sz="4098">
                <a:solidFill>
                  <a:srgbClr val="4D664D"/>
                </a:solidFill>
                <a:latin typeface="Radley"/>
                <a:ea typeface="Radley"/>
                <a:cs typeface="Radley"/>
                <a:sym typeface="Radley"/>
              </a:rPr>
              <a:t>Eco challenges to motivate users to earn more GreenPoints.</a:t>
            </a:r>
          </a:p>
          <a:p>
            <a:pPr marL="884774" lvl="1" indent="-442387" algn="l">
              <a:lnSpc>
                <a:spcPts val="4589"/>
              </a:lnSpc>
              <a:buFont typeface="Arial"/>
              <a:buChar char="•"/>
            </a:pPr>
            <a:r>
              <a:rPr lang="en-US" sz="4098">
                <a:solidFill>
                  <a:srgbClr val="4D664D"/>
                </a:solidFill>
                <a:latin typeface="Radley"/>
                <a:ea typeface="Radley"/>
                <a:cs typeface="Radley"/>
                <a:sym typeface="Radley"/>
              </a:rPr>
              <a:t>Supports products ranging from basic to premium quality, promoting sustainable choices across all levels.</a:t>
            </a:r>
          </a:p>
          <a:p>
            <a:pPr algn="l">
              <a:lnSpc>
                <a:spcPts val="4589"/>
              </a:lnSpc>
            </a:pPr>
            <a:endParaRPr lang="en-US" sz="4098">
              <a:solidFill>
                <a:srgbClr val="4D664D"/>
              </a:solidFill>
              <a:latin typeface="Radley"/>
              <a:ea typeface="Radley"/>
              <a:cs typeface="Radley"/>
              <a:sym typeface="Radley"/>
            </a:endParaRPr>
          </a:p>
          <a:p>
            <a:pPr marL="0" lvl="0" indent="0" algn="l">
              <a:lnSpc>
                <a:spcPts val="4589"/>
              </a:lnSpc>
              <a:spcBef>
                <a:spcPct val="0"/>
              </a:spcBef>
            </a:pPr>
            <a:endParaRPr lang="en-US" sz="4098">
              <a:solidFill>
                <a:srgbClr val="4D664D"/>
              </a:solidFill>
              <a:latin typeface="Radley"/>
              <a:ea typeface="Radley"/>
              <a:cs typeface="Radley"/>
              <a:sym typeface="Radley"/>
            </a:endParaRPr>
          </a:p>
        </p:txBody>
      </p:sp>
      <p:sp>
        <p:nvSpPr>
          <p:cNvPr id="3" name="TextBox 3"/>
          <p:cNvSpPr txBox="1"/>
          <p:nvPr/>
        </p:nvSpPr>
        <p:spPr>
          <a:xfrm>
            <a:off x="304800" y="38100"/>
            <a:ext cx="16448409" cy="1186165"/>
          </a:xfrm>
          <a:prstGeom prst="rect">
            <a:avLst/>
          </a:prstGeom>
        </p:spPr>
        <p:txBody>
          <a:bodyPr lIns="0" tIns="0" rIns="0" bIns="0" rtlCol="0" anchor="t">
            <a:spAutoFit/>
          </a:bodyPr>
          <a:lstStyle/>
          <a:p>
            <a:pPr algn="l">
              <a:lnSpc>
                <a:spcPts val="9695"/>
              </a:lnSpc>
            </a:pPr>
            <a:r>
              <a:rPr lang="en-US" sz="6925">
                <a:gradFill>
                  <a:gsLst>
                    <a:gs pos="0">
                      <a:srgbClr val="80C89D">
                        <a:alpha val="100000"/>
                      </a:srgbClr>
                    </a:gs>
                    <a:gs pos="100000">
                      <a:srgbClr val="2C6627">
                        <a:alpha val="100000"/>
                      </a:srgbClr>
                    </a:gs>
                  </a:gsLst>
                  <a:lin ang="5400000"/>
                </a:gradFill>
                <a:latin typeface="Radley"/>
                <a:ea typeface="Radley"/>
                <a:cs typeface="Radley"/>
                <a:sym typeface="Radley"/>
              </a:rPr>
              <a:t>Unique Features of SustainStyle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6F0E9"/>
        </a:solidFill>
        <a:effectLst/>
      </p:bgPr>
    </p:bg>
    <p:spTree>
      <p:nvGrpSpPr>
        <p:cNvPr id="1" name=""/>
        <p:cNvGrpSpPr/>
        <p:nvPr/>
      </p:nvGrpSpPr>
      <p:grpSpPr>
        <a:xfrm>
          <a:off x="0" y="0"/>
          <a:ext cx="0" cy="0"/>
          <a:chOff x="0" y="0"/>
          <a:chExt cx="0" cy="0"/>
        </a:xfrm>
      </p:grpSpPr>
      <p:sp>
        <p:nvSpPr>
          <p:cNvPr id="2" name="TextBox 2"/>
          <p:cNvSpPr txBox="1"/>
          <p:nvPr/>
        </p:nvSpPr>
        <p:spPr>
          <a:xfrm>
            <a:off x="304800" y="1714817"/>
            <a:ext cx="15435937" cy="6714491"/>
          </a:xfrm>
          <a:prstGeom prst="rect">
            <a:avLst/>
          </a:prstGeom>
        </p:spPr>
        <p:txBody>
          <a:bodyPr lIns="0" tIns="0" rIns="0" bIns="0" rtlCol="0" anchor="t">
            <a:spAutoFit/>
          </a:bodyPr>
          <a:lstStyle/>
          <a:p>
            <a:pPr algn="l">
              <a:lnSpc>
                <a:spcPts val="5284"/>
              </a:lnSpc>
            </a:pPr>
            <a:endParaRPr/>
          </a:p>
          <a:p>
            <a:pPr marL="815012" lvl="1" indent="-407506" algn="l">
              <a:lnSpc>
                <a:spcPts val="5284"/>
              </a:lnSpc>
              <a:buFont typeface="Arial"/>
              <a:buChar char="•"/>
            </a:pPr>
            <a:r>
              <a:rPr lang="en-US" sz="3774">
                <a:solidFill>
                  <a:srgbClr val="4D664D"/>
                </a:solidFill>
                <a:latin typeface="Carlito"/>
                <a:ea typeface="Carlito"/>
                <a:cs typeface="Carlito"/>
                <a:sym typeface="Carlito"/>
              </a:rPr>
              <a:t>Users earn GreenPoints for sustainable actions</a:t>
            </a:r>
          </a:p>
          <a:p>
            <a:pPr marL="815012" lvl="1" indent="-407506" algn="l">
              <a:lnSpc>
                <a:spcPts val="5284"/>
              </a:lnSpc>
              <a:buFont typeface="Arial"/>
              <a:buChar char="•"/>
            </a:pPr>
            <a:r>
              <a:rPr lang="en-US" sz="3774">
                <a:solidFill>
                  <a:srgbClr val="4D664D"/>
                </a:solidFill>
                <a:latin typeface="Carlito"/>
                <a:ea typeface="Carlito"/>
                <a:cs typeface="Carlito"/>
                <a:sym typeface="Carlito"/>
              </a:rPr>
              <a:t>Progress levels shown using signal indicators</a:t>
            </a:r>
          </a:p>
          <a:p>
            <a:pPr marL="1630024" lvl="2" indent="-543341" algn="l">
              <a:lnSpc>
                <a:spcPts val="5284"/>
              </a:lnSpc>
              <a:buFont typeface="Arial"/>
              <a:buChar char="⚬"/>
            </a:pPr>
            <a:r>
              <a:rPr lang="en-US" sz="3774">
                <a:solidFill>
                  <a:srgbClr val="4D664D"/>
                </a:solidFill>
                <a:latin typeface="Carlito"/>
                <a:ea typeface="Carlito"/>
                <a:cs typeface="Carlito"/>
                <a:sym typeface="Carlito"/>
              </a:rPr>
              <a:t>50 points (Red)</a:t>
            </a:r>
          </a:p>
          <a:p>
            <a:pPr marL="1630024" lvl="2" indent="-543341" algn="l">
              <a:lnSpc>
                <a:spcPts val="5284"/>
              </a:lnSpc>
              <a:buFont typeface="Arial"/>
              <a:buChar char="⚬"/>
            </a:pPr>
            <a:r>
              <a:rPr lang="en-US" sz="3774">
                <a:solidFill>
                  <a:srgbClr val="4D664D"/>
                </a:solidFill>
                <a:latin typeface="Carlito"/>
                <a:ea typeface="Carlito"/>
                <a:cs typeface="Carlito"/>
                <a:sym typeface="Carlito"/>
              </a:rPr>
              <a:t>250 points (Orange)</a:t>
            </a:r>
          </a:p>
          <a:p>
            <a:pPr marL="1630024" lvl="2" indent="-543341" algn="l">
              <a:lnSpc>
                <a:spcPts val="5284"/>
              </a:lnSpc>
              <a:buFont typeface="Arial"/>
              <a:buChar char="⚬"/>
            </a:pPr>
            <a:r>
              <a:rPr lang="en-US" sz="3774">
                <a:solidFill>
                  <a:srgbClr val="4D664D"/>
                </a:solidFill>
                <a:latin typeface="Carlito"/>
                <a:ea typeface="Carlito"/>
                <a:cs typeface="Carlito"/>
                <a:sym typeface="Carlito"/>
              </a:rPr>
              <a:t>500 points (Green)</a:t>
            </a:r>
          </a:p>
          <a:p>
            <a:pPr marL="815012" lvl="1" indent="-407506" algn="l">
              <a:lnSpc>
                <a:spcPts val="5284"/>
              </a:lnSpc>
              <a:buFont typeface="Arial"/>
              <a:buChar char="•"/>
            </a:pPr>
            <a:r>
              <a:rPr lang="en-US" sz="3774">
                <a:solidFill>
                  <a:srgbClr val="4D664D"/>
                </a:solidFill>
                <a:latin typeface="Carlito"/>
                <a:ea typeface="Carlito"/>
                <a:cs typeface="Carlito"/>
                <a:sym typeface="Carlito"/>
              </a:rPr>
              <a:t>Example milestone:</a:t>
            </a:r>
          </a:p>
          <a:p>
            <a:pPr marL="1630024" lvl="2" indent="-543341" algn="l">
              <a:lnSpc>
                <a:spcPts val="5284"/>
              </a:lnSpc>
              <a:buFont typeface="Arial"/>
              <a:buChar char="⚬"/>
            </a:pPr>
            <a:r>
              <a:rPr lang="en-US" sz="3774">
                <a:solidFill>
                  <a:srgbClr val="4D664D"/>
                </a:solidFill>
                <a:latin typeface="Carlito"/>
                <a:ea typeface="Carlito"/>
                <a:cs typeface="Carlito"/>
                <a:sym typeface="Carlito"/>
              </a:rPr>
              <a:t>Reach 250 GreenPoints → Unlock a hemp shirt worth ₹700</a:t>
            </a:r>
          </a:p>
          <a:p>
            <a:pPr marL="815012" lvl="1" indent="-407506" algn="l">
              <a:lnSpc>
                <a:spcPts val="5284"/>
              </a:lnSpc>
              <a:buFont typeface="Arial"/>
              <a:buChar char="•"/>
            </a:pPr>
            <a:r>
              <a:rPr lang="en-US" sz="3774">
                <a:solidFill>
                  <a:srgbClr val="4D664D"/>
                </a:solidFill>
                <a:latin typeface="Carlito"/>
                <a:ea typeface="Carlito"/>
                <a:cs typeface="Carlito"/>
                <a:sym typeface="Carlito"/>
              </a:rPr>
              <a:t>Weekly eco-challenges motivate continuous engagement</a:t>
            </a:r>
          </a:p>
          <a:p>
            <a:pPr marL="0" lvl="0" indent="0" algn="l">
              <a:lnSpc>
                <a:spcPts val="5284"/>
              </a:lnSpc>
            </a:pPr>
            <a:endParaRPr lang="en-US" sz="3774">
              <a:solidFill>
                <a:srgbClr val="4D664D"/>
              </a:solidFill>
              <a:latin typeface="Carlito"/>
              <a:ea typeface="Carlito"/>
              <a:cs typeface="Carlito"/>
              <a:sym typeface="Carlito"/>
            </a:endParaRPr>
          </a:p>
        </p:txBody>
      </p:sp>
      <p:sp>
        <p:nvSpPr>
          <p:cNvPr id="3" name="Freeform 3"/>
          <p:cNvSpPr/>
          <p:nvPr/>
        </p:nvSpPr>
        <p:spPr>
          <a:xfrm>
            <a:off x="13572217" y="1743392"/>
            <a:ext cx="4317991" cy="8121867"/>
          </a:xfrm>
          <a:custGeom>
            <a:avLst/>
            <a:gdLst/>
            <a:ahLst/>
            <a:cxnLst/>
            <a:rect l="l" t="t" r="r" b="b"/>
            <a:pathLst>
              <a:path w="4317991" h="8121867">
                <a:moveTo>
                  <a:pt x="0" y="0"/>
                </a:moveTo>
                <a:lnTo>
                  <a:pt x="4317991" y="0"/>
                </a:lnTo>
                <a:lnTo>
                  <a:pt x="4317991" y="8121867"/>
                </a:lnTo>
                <a:lnTo>
                  <a:pt x="0" y="8121867"/>
                </a:lnTo>
                <a:lnTo>
                  <a:pt x="0" y="0"/>
                </a:lnTo>
                <a:close/>
              </a:path>
            </a:pathLst>
          </a:custGeom>
          <a:blipFill>
            <a:blip r:embed="rId2"/>
            <a:stretch>
              <a:fillRect t="-9878" b="-7724"/>
            </a:stretch>
          </a:blipFill>
          <a:ln w="38100" cap="sq">
            <a:solidFill>
              <a:srgbClr val="000000"/>
            </a:solidFill>
            <a:prstDash val="solid"/>
            <a:miter/>
          </a:ln>
        </p:spPr>
      </p:sp>
      <p:sp>
        <p:nvSpPr>
          <p:cNvPr id="4" name="TextBox 4"/>
          <p:cNvSpPr txBox="1"/>
          <p:nvPr/>
        </p:nvSpPr>
        <p:spPr>
          <a:xfrm>
            <a:off x="304800" y="648334"/>
            <a:ext cx="16954500" cy="798832"/>
          </a:xfrm>
          <a:prstGeom prst="rect">
            <a:avLst/>
          </a:prstGeom>
        </p:spPr>
        <p:txBody>
          <a:bodyPr lIns="0" tIns="0" rIns="0" bIns="0" rtlCol="0" anchor="t">
            <a:spAutoFit/>
          </a:bodyPr>
          <a:lstStyle/>
          <a:p>
            <a:pPr marL="0" lvl="0" indent="0" algn="ctr">
              <a:lnSpc>
                <a:spcPts val="6160"/>
              </a:lnSpc>
              <a:spcBef>
                <a:spcPct val="0"/>
              </a:spcBef>
            </a:pPr>
            <a:r>
              <a:rPr lang="en-US" sz="5500">
                <a:solidFill>
                  <a:srgbClr val="4D664D"/>
                </a:solidFill>
                <a:latin typeface="Radley"/>
                <a:ea typeface="Radley"/>
                <a:cs typeface="Radley"/>
                <a:sym typeface="Radley"/>
              </a:rPr>
              <a:t>GREENPOINTS, MILESTONES &amp; CHALLENGES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2B590"/>
        </a:solidFill>
        <a:effectLst/>
      </p:bgPr>
    </p:bg>
    <p:spTree>
      <p:nvGrpSpPr>
        <p:cNvPr id="1" name=""/>
        <p:cNvGrpSpPr/>
        <p:nvPr/>
      </p:nvGrpSpPr>
      <p:grpSpPr>
        <a:xfrm>
          <a:off x="0" y="0"/>
          <a:ext cx="0" cy="0"/>
          <a:chOff x="0" y="0"/>
          <a:chExt cx="0" cy="0"/>
        </a:xfrm>
      </p:grpSpPr>
      <p:grpSp>
        <p:nvGrpSpPr>
          <p:cNvPr id="2" name="Group 2"/>
          <p:cNvGrpSpPr/>
          <p:nvPr/>
        </p:nvGrpSpPr>
        <p:grpSpPr>
          <a:xfrm>
            <a:off x="666750" y="9184102"/>
            <a:ext cx="2171730" cy="2205796"/>
            <a:chOff x="0" y="0"/>
            <a:chExt cx="812800" cy="825500"/>
          </a:xfrm>
        </p:grpSpPr>
        <p:sp>
          <p:nvSpPr>
            <p:cNvPr id="3" name="Freeform 3"/>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4D664D"/>
            </a:solidFill>
          </p:spPr>
        </p:sp>
        <p:sp>
          <p:nvSpPr>
            <p:cNvPr id="4" name="TextBox 4"/>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AutoShape 5"/>
          <p:cNvSpPr/>
          <p:nvPr/>
        </p:nvSpPr>
        <p:spPr>
          <a:xfrm>
            <a:off x="5269362" y="1063625"/>
            <a:ext cx="6553648" cy="0"/>
          </a:xfrm>
          <a:prstGeom prst="line">
            <a:avLst/>
          </a:prstGeom>
          <a:ln w="19050" cap="flat">
            <a:solidFill>
              <a:srgbClr val="4D664D"/>
            </a:solidFill>
            <a:prstDash val="solid"/>
            <a:headEnd type="none" w="sm" len="sm"/>
            <a:tailEnd type="none" w="sm" len="sm"/>
          </a:ln>
        </p:spPr>
      </p:sp>
      <p:grpSp>
        <p:nvGrpSpPr>
          <p:cNvPr id="6" name="Group 6"/>
          <p:cNvGrpSpPr/>
          <p:nvPr/>
        </p:nvGrpSpPr>
        <p:grpSpPr>
          <a:xfrm>
            <a:off x="28575" y="1288085"/>
            <a:ext cx="3637019" cy="7896017"/>
            <a:chOff x="0" y="0"/>
            <a:chExt cx="653645" cy="1419071"/>
          </a:xfrm>
        </p:grpSpPr>
        <p:sp>
          <p:nvSpPr>
            <p:cNvPr id="7" name="Freeform 7"/>
            <p:cNvSpPr/>
            <p:nvPr/>
          </p:nvSpPr>
          <p:spPr>
            <a:xfrm>
              <a:off x="0" y="0"/>
              <a:ext cx="653645" cy="1419071"/>
            </a:xfrm>
            <a:custGeom>
              <a:avLst/>
              <a:gdLst/>
              <a:ahLst/>
              <a:cxnLst/>
              <a:rect l="l" t="t" r="r" b="b"/>
              <a:pathLst>
                <a:path w="653645" h="1419071">
                  <a:moveTo>
                    <a:pt x="70245" y="0"/>
                  </a:moveTo>
                  <a:lnTo>
                    <a:pt x="583399" y="0"/>
                  </a:lnTo>
                  <a:cubicBezTo>
                    <a:pt x="622195" y="0"/>
                    <a:pt x="653645" y="31450"/>
                    <a:pt x="653645" y="70245"/>
                  </a:cubicBezTo>
                  <a:lnTo>
                    <a:pt x="653645" y="1348826"/>
                  </a:lnTo>
                  <a:cubicBezTo>
                    <a:pt x="653645" y="1367456"/>
                    <a:pt x="646244" y="1385323"/>
                    <a:pt x="633070" y="1398497"/>
                  </a:cubicBezTo>
                  <a:cubicBezTo>
                    <a:pt x="619897" y="1411670"/>
                    <a:pt x="602030" y="1419071"/>
                    <a:pt x="583399" y="1419071"/>
                  </a:cubicBezTo>
                  <a:lnTo>
                    <a:pt x="70245" y="1419071"/>
                  </a:lnTo>
                  <a:cubicBezTo>
                    <a:pt x="51615" y="1419071"/>
                    <a:pt x="33748" y="1411670"/>
                    <a:pt x="20574" y="1398497"/>
                  </a:cubicBezTo>
                  <a:cubicBezTo>
                    <a:pt x="7401" y="1385323"/>
                    <a:pt x="0" y="1367456"/>
                    <a:pt x="0" y="1348826"/>
                  </a:cubicBezTo>
                  <a:lnTo>
                    <a:pt x="0" y="70245"/>
                  </a:lnTo>
                  <a:cubicBezTo>
                    <a:pt x="0" y="31450"/>
                    <a:pt x="31450" y="0"/>
                    <a:pt x="70245" y="0"/>
                  </a:cubicBezTo>
                  <a:close/>
                </a:path>
              </a:pathLst>
            </a:custGeom>
            <a:blipFill>
              <a:blip r:embed="rId2"/>
              <a:stretch>
                <a:fillRect t="-613" b="-613"/>
              </a:stretch>
            </a:blipFill>
            <a:ln w="57150" cap="rnd">
              <a:solidFill>
                <a:srgbClr val="E6F0E9"/>
              </a:solidFill>
              <a:prstDash val="solid"/>
              <a:round/>
            </a:ln>
          </p:spPr>
        </p:sp>
      </p:grpSp>
      <p:grpSp>
        <p:nvGrpSpPr>
          <p:cNvPr id="8" name="Group 8"/>
          <p:cNvGrpSpPr/>
          <p:nvPr/>
        </p:nvGrpSpPr>
        <p:grpSpPr>
          <a:xfrm>
            <a:off x="3665594" y="1288085"/>
            <a:ext cx="3637019" cy="7896017"/>
            <a:chOff x="0" y="0"/>
            <a:chExt cx="563469" cy="1223300"/>
          </a:xfrm>
        </p:grpSpPr>
        <p:sp>
          <p:nvSpPr>
            <p:cNvPr id="9" name="Freeform 9"/>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3"/>
              <a:stretch>
                <a:fillRect t="-262" b="-262"/>
              </a:stretch>
            </a:blipFill>
            <a:ln w="57150" cap="rnd">
              <a:solidFill>
                <a:srgbClr val="E6F0E9"/>
              </a:solidFill>
              <a:prstDash val="solid"/>
              <a:round/>
            </a:ln>
          </p:spPr>
        </p:sp>
      </p:grpSp>
      <p:grpSp>
        <p:nvGrpSpPr>
          <p:cNvPr id="10" name="Group 10"/>
          <p:cNvGrpSpPr/>
          <p:nvPr/>
        </p:nvGrpSpPr>
        <p:grpSpPr>
          <a:xfrm>
            <a:off x="7301488" y="1288085"/>
            <a:ext cx="3637019" cy="7896017"/>
            <a:chOff x="0" y="0"/>
            <a:chExt cx="563469" cy="1223300"/>
          </a:xfrm>
        </p:grpSpPr>
        <p:sp>
          <p:nvSpPr>
            <p:cNvPr id="11" name="Freeform 11"/>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4"/>
              <a:stretch>
                <a:fillRect l="-33" r="-33"/>
              </a:stretch>
            </a:blipFill>
            <a:ln w="57150" cap="rnd">
              <a:solidFill>
                <a:srgbClr val="E6F0E9"/>
              </a:solidFill>
              <a:prstDash val="solid"/>
              <a:round/>
            </a:ln>
          </p:spPr>
        </p:sp>
      </p:grpSp>
      <p:grpSp>
        <p:nvGrpSpPr>
          <p:cNvPr id="12" name="Group 12"/>
          <p:cNvGrpSpPr/>
          <p:nvPr/>
        </p:nvGrpSpPr>
        <p:grpSpPr>
          <a:xfrm>
            <a:off x="10938508" y="1288085"/>
            <a:ext cx="3637019" cy="7896017"/>
            <a:chOff x="0" y="0"/>
            <a:chExt cx="563469" cy="1223300"/>
          </a:xfrm>
        </p:grpSpPr>
        <p:sp>
          <p:nvSpPr>
            <p:cNvPr id="13" name="Freeform 13"/>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5"/>
              <a:stretch>
                <a:fillRect t="-405" b="-405"/>
              </a:stretch>
            </a:blipFill>
            <a:ln w="57150" cap="rnd">
              <a:solidFill>
                <a:srgbClr val="E6F0E9"/>
              </a:solidFill>
              <a:prstDash val="solid"/>
              <a:round/>
            </a:ln>
          </p:spPr>
        </p:sp>
      </p:grpSp>
      <p:grpSp>
        <p:nvGrpSpPr>
          <p:cNvPr id="14" name="Group 14"/>
          <p:cNvGrpSpPr/>
          <p:nvPr/>
        </p:nvGrpSpPr>
        <p:grpSpPr>
          <a:xfrm>
            <a:off x="14574402" y="1288085"/>
            <a:ext cx="3637019" cy="7896017"/>
            <a:chOff x="0" y="0"/>
            <a:chExt cx="563469" cy="1223300"/>
          </a:xfrm>
        </p:grpSpPr>
        <p:sp>
          <p:nvSpPr>
            <p:cNvPr id="15" name="Freeform 15"/>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6"/>
              <a:stretch>
                <a:fillRect t="-1652" b="-1652"/>
              </a:stretch>
            </a:blipFill>
            <a:ln w="57150" cap="rnd">
              <a:solidFill>
                <a:srgbClr val="E6F0E9"/>
              </a:solidFill>
              <a:prstDash val="solid"/>
              <a:round/>
            </a:ln>
          </p:spPr>
        </p:sp>
      </p:grpSp>
      <p:sp>
        <p:nvSpPr>
          <p:cNvPr id="16" name="TextBox 16"/>
          <p:cNvSpPr txBox="1"/>
          <p:nvPr/>
        </p:nvSpPr>
        <p:spPr>
          <a:xfrm>
            <a:off x="666750" y="142875"/>
            <a:ext cx="15726161" cy="920750"/>
          </a:xfrm>
          <a:prstGeom prst="rect">
            <a:avLst/>
          </a:prstGeom>
        </p:spPr>
        <p:txBody>
          <a:bodyPr lIns="0" tIns="0" rIns="0" bIns="0" rtlCol="0" anchor="t">
            <a:spAutoFit/>
          </a:bodyPr>
          <a:lstStyle/>
          <a:p>
            <a:pPr marL="0" lvl="0" indent="0" algn="ctr">
              <a:lnSpc>
                <a:spcPts val="6999"/>
              </a:lnSpc>
            </a:pPr>
            <a:r>
              <a:rPr lang="en-US" sz="6999">
                <a:solidFill>
                  <a:srgbClr val="4D664D"/>
                </a:solidFill>
                <a:latin typeface="Radley"/>
                <a:ea typeface="Radley"/>
                <a:cs typeface="Radley"/>
                <a:sym typeface="Radley"/>
              </a:rPr>
              <a:t>Prototyped App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2B590"/>
        </a:solidFill>
        <a:effectLst/>
      </p:bgPr>
    </p:bg>
    <p:spTree>
      <p:nvGrpSpPr>
        <p:cNvPr id="1" name=""/>
        <p:cNvGrpSpPr/>
        <p:nvPr/>
      </p:nvGrpSpPr>
      <p:grpSpPr>
        <a:xfrm>
          <a:off x="0" y="0"/>
          <a:ext cx="0" cy="0"/>
          <a:chOff x="0" y="0"/>
          <a:chExt cx="0" cy="0"/>
        </a:xfrm>
      </p:grpSpPr>
      <p:grpSp>
        <p:nvGrpSpPr>
          <p:cNvPr id="2" name="Group 2"/>
          <p:cNvGrpSpPr/>
          <p:nvPr/>
        </p:nvGrpSpPr>
        <p:grpSpPr>
          <a:xfrm>
            <a:off x="666750" y="9184102"/>
            <a:ext cx="2171730" cy="2205796"/>
            <a:chOff x="0" y="0"/>
            <a:chExt cx="812800" cy="825500"/>
          </a:xfrm>
        </p:grpSpPr>
        <p:sp>
          <p:nvSpPr>
            <p:cNvPr id="3" name="Freeform 3"/>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4D664D"/>
            </a:solidFill>
          </p:spPr>
        </p:sp>
        <p:sp>
          <p:nvSpPr>
            <p:cNvPr id="4" name="TextBox 4"/>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
        <p:nvSpPr>
          <p:cNvPr id="5" name="AutoShape 5"/>
          <p:cNvSpPr/>
          <p:nvPr/>
        </p:nvSpPr>
        <p:spPr>
          <a:xfrm>
            <a:off x="5269362" y="1063625"/>
            <a:ext cx="6553648" cy="0"/>
          </a:xfrm>
          <a:prstGeom prst="line">
            <a:avLst/>
          </a:prstGeom>
          <a:ln w="19050" cap="flat">
            <a:solidFill>
              <a:srgbClr val="4D664D"/>
            </a:solidFill>
            <a:prstDash val="solid"/>
            <a:headEnd type="none" w="sm" len="sm"/>
            <a:tailEnd type="none" w="sm" len="sm"/>
          </a:ln>
        </p:spPr>
      </p:sp>
      <p:grpSp>
        <p:nvGrpSpPr>
          <p:cNvPr id="6" name="Group 6"/>
          <p:cNvGrpSpPr/>
          <p:nvPr/>
        </p:nvGrpSpPr>
        <p:grpSpPr>
          <a:xfrm>
            <a:off x="415435" y="1288085"/>
            <a:ext cx="3637019" cy="7896017"/>
            <a:chOff x="0" y="0"/>
            <a:chExt cx="653645" cy="1419071"/>
          </a:xfrm>
        </p:grpSpPr>
        <p:sp>
          <p:nvSpPr>
            <p:cNvPr id="7" name="Freeform 7"/>
            <p:cNvSpPr/>
            <p:nvPr/>
          </p:nvSpPr>
          <p:spPr>
            <a:xfrm>
              <a:off x="0" y="0"/>
              <a:ext cx="653645" cy="1419071"/>
            </a:xfrm>
            <a:custGeom>
              <a:avLst/>
              <a:gdLst/>
              <a:ahLst/>
              <a:cxnLst/>
              <a:rect l="l" t="t" r="r" b="b"/>
              <a:pathLst>
                <a:path w="653645" h="1419071">
                  <a:moveTo>
                    <a:pt x="70245" y="0"/>
                  </a:moveTo>
                  <a:lnTo>
                    <a:pt x="583399" y="0"/>
                  </a:lnTo>
                  <a:cubicBezTo>
                    <a:pt x="622195" y="0"/>
                    <a:pt x="653645" y="31450"/>
                    <a:pt x="653645" y="70245"/>
                  </a:cubicBezTo>
                  <a:lnTo>
                    <a:pt x="653645" y="1348826"/>
                  </a:lnTo>
                  <a:cubicBezTo>
                    <a:pt x="653645" y="1367456"/>
                    <a:pt x="646244" y="1385323"/>
                    <a:pt x="633070" y="1398497"/>
                  </a:cubicBezTo>
                  <a:cubicBezTo>
                    <a:pt x="619897" y="1411670"/>
                    <a:pt x="602030" y="1419071"/>
                    <a:pt x="583399" y="1419071"/>
                  </a:cubicBezTo>
                  <a:lnTo>
                    <a:pt x="70245" y="1419071"/>
                  </a:lnTo>
                  <a:cubicBezTo>
                    <a:pt x="51615" y="1419071"/>
                    <a:pt x="33748" y="1411670"/>
                    <a:pt x="20574" y="1398497"/>
                  </a:cubicBezTo>
                  <a:cubicBezTo>
                    <a:pt x="7401" y="1385323"/>
                    <a:pt x="0" y="1367456"/>
                    <a:pt x="0" y="1348826"/>
                  </a:cubicBezTo>
                  <a:lnTo>
                    <a:pt x="0" y="70245"/>
                  </a:lnTo>
                  <a:cubicBezTo>
                    <a:pt x="0" y="31450"/>
                    <a:pt x="31450" y="0"/>
                    <a:pt x="70245" y="0"/>
                  </a:cubicBezTo>
                  <a:close/>
                </a:path>
              </a:pathLst>
            </a:custGeom>
            <a:blipFill>
              <a:blip r:embed="rId2"/>
              <a:stretch>
                <a:fillRect l="-1133" r="-1133"/>
              </a:stretch>
            </a:blipFill>
            <a:ln w="57150" cap="rnd">
              <a:solidFill>
                <a:srgbClr val="E6F0E9"/>
              </a:solidFill>
              <a:prstDash val="solid"/>
              <a:round/>
            </a:ln>
          </p:spPr>
        </p:sp>
      </p:grpSp>
      <p:grpSp>
        <p:nvGrpSpPr>
          <p:cNvPr id="8" name="Group 8"/>
          <p:cNvGrpSpPr/>
          <p:nvPr/>
        </p:nvGrpSpPr>
        <p:grpSpPr>
          <a:xfrm>
            <a:off x="7018858" y="1195491"/>
            <a:ext cx="3637019" cy="7896017"/>
            <a:chOff x="0" y="0"/>
            <a:chExt cx="563469" cy="1223300"/>
          </a:xfrm>
        </p:grpSpPr>
        <p:sp>
          <p:nvSpPr>
            <p:cNvPr id="9" name="Freeform 9"/>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3"/>
              <a:stretch>
                <a:fillRect t="-410" b="-410"/>
              </a:stretch>
            </a:blipFill>
            <a:ln w="57150" cap="rnd">
              <a:solidFill>
                <a:srgbClr val="E6F0E9"/>
              </a:solidFill>
              <a:prstDash val="solid"/>
              <a:round/>
            </a:ln>
          </p:spPr>
        </p:sp>
      </p:grpSp>
      <p:grpSp>
        <p:nvGrpSpPr>
          <p:cNvPr id="10" name="Group 10"/>
          <p:cNvGrpSpPr/>
          <p:nvPr/>
        </p:nvGrpSpPr>
        <p:grpSpPr>
          <a:xfrm>
            <a:off x="13622281" y="1288085"/>
            <a:ext cx="3637019" cy="7896017"/>
            <a:chOff x="0" y="0"/>
            <a:chExt cx="563469" cy="1223300"/>
          </a:xfrm>
        </p:grpSpPr>
        <p:sp>
          <p:nvSpPr>
            <p:cNvPr id="11" name="Freeform 11"/>
            <p:cNvSpPr/>
            <p:nvPr/>
          </p:nvSpPr>
          <p:spPr>
            <a:xfrm>
              <a:off x="0" y="0"/>
              <a:ext cx="563469" cy="1223300"/>
            </a:xfrm>
            <a:custGeom>
              <a:avLst/>
              <a:gdLst/>
              <a:ahLst/>
              <a:cxnLst/>
              <a:rect l="l" t="t" r="r" b="b"/>
              <a:pathLst>
                <a:path w="563469" h="1223300">
                  <a:moveTo>
                    <a:pt x="70245" y="0"/>
                  </a:moveTo>
                  <a:lnTo>
                    <a:pt x="493224" y="0"/>
                  </a:lnTo>
                  <a:cubicBezTo>
                    <a:pt x="532020" y="0"/>
                    <a:pt x="563469" y="31450"/>
                    <a:pt x="563469" y="70245"/>
                  </a:cubicBezTo>
                  <a:lnTo>
                    <a:pt x="563469" y="1153055"/>
                  </a:lnTo>
                  <a:cubicBezTo>
                    <a:pt x="563469" y="1191850"/>
                    <a:pt x="532020" y="1223300"/>
                    <a:pt x="493224" y="1223300"/>
                  </a:cubicBezTo>
                  <a:lnTo>
                    <a:pt x="70245" y="1223300"/>
                  </a:lnTo>
                  <a:cubicBezTo>
                    <a:pt x="51615" y="1223300"/>
                    <a:pt x="33748" y="1215899"/>
                    <a:pt x="20574" y="1202725"/>
                  </a:cubicBezTo>
                  <a:cubicBezTo>
                    <a:pt x="7401" y="1189552"/>
                    <a:pt x="0" y="1171685"/>
                    <a:pt x="0" y="1153055"/>
                  </a:cubicBezTo>
                  <a:lnTo>
                    <a:pt x="0" y="70245"/>
                  </a:lnTo>
                  <a:cubicBezTo>
                    <a:pt x="0" y="31450"/>
                    <a:pt x="31450" y="0"/>
                    <a:pt x="70245" y="0"/>
                  </a:cubicBezTo>
                  <a:close/>
                </a:path>
              </a:pathLst>
            </a:custGeom>
            <a:blipFill>
              <a:blip r:embed="rId4"/>
              <a:stretch>
                <a:fillRect t="-1438" b="-1438"/>
              </a:stretch>
            </a:blipFill>
            <a:ln w="57150" cap="rnd">
              <a:solidFill>
                <a:srgbClr val="E6F0E9"/>
              </a:solidFill>
              <a:prstDash val="solid"/>
              <a:round/>
            </a:ln>
          </p:spPr>
        </p:sp>
      </p:grpSp>
      <p:sp>
        <p:nvSpPr>
          <p:cNvPr id="12" name="TextBox 12"/>
          <p:cNvSpPr txBox="1"/>
          <p:nvPr/>
        </p:nvSpPr>
        <p:spPr>
          <a:xfrm>
            <a:off x="666750" y="142875"/>
            <a:ext cx="15726161" cy="920750"/>
          </a:xfrm>
          <a:prstGeom prst="rect">
            <a:avLst/>
          </a:prstGeom>
        </p:spPr>
        <p:txBody>
          <a:bodyPr lIns="0" tIns="0" rIns="0" bIns="0" rtlCol="0" anchor="t">
            <a:spAutoFit/>
          </a:bodyPr>
          <a:lstStyle/>
          <a:p>
            <a:pPr marL="0" lvl="0" indent="0" algn="ctr">
              <a:lnSpc>
                <a:spcPts val="6999"/>
              </a:lnSpc>
            </a:pPr>
            <a:r>
              <a:rPr lang="en-US" sz="6999">
                <a:solidFill>
                  <a:srgbClr val="4D664D"/>
                </a:solidFill>
                <a:latin typeface="Radley"/>
                <a:ea typeface="Radley"/>
                <a:cs typeface="Radley"/>
                <a:sym typeface="Radley"/>
              </a:rPr>
              <a:t>Prototyped App Interface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F0E9"/>
        </a:solidFill>
        <a:effectLst/>
      </p:bgPr>
    </p:bg>
    <p:spTree>
      <p:nvGrpSpPr>
        <p:cNvPr id="1" name=""/>
        <p:cNvGrpSpPr/>
        <p:nvPr/>
      </p:nvGrpSpPr>
      <p:grpSpPr>
        <a:xfrm>
          <a:off x="0" y="0"/>
          <a:ext cx="0" cy="0"/>
          <a:chOff x="0" y="0"/>
          <a:chExt cx="0" cy="0"/>
        </a:xfrm>
      </p:grpSpPr>
      <p:sp>
        <p:nvSpPr>
          <p:cNvPr id="2" name="TextBox 2"/>
          <p:cNvSpPr txBox="1"/>
          <p:nvPr/>
        </p:nvSpPr>
        <p:spPr>
          <a:xfrm>
            <a:off x="666750" y="2409717"/>
            <a:ext cx="11201400" cy="4978671"/>
          </a:xfrm>
          <a:prstGeom prst="rect">
            <a:avLst/>
          </a:prstGeom>
        </p:spPr>
        <p:txBody>
          <a:bodyPr lIns="0" tIns="0" rIns="0" bIns="0" rtlCol="0" anchor="t">
            <a:spAutoFit/>
          </a:bodyPr>
          <a:lstStyle/>
          <a:p>
            <a:pPr>
              <a:lnSpc>
                <a:spcPts val="3919"/>
              </a:lnSpc>
            </a:pPr>
            <a:r>
              <a:rPr lang="en-US" sz="2799" dirty="0">
                <a:solidFill>
                  <a:srgbClr val="4D664D"/>
                </a:solidFill>
                <a:latin typeface="Radley"/>
                <a:ea typeface="Radley"/>
                <a:cs typeface="Radley"/>
                <a:sym typeface="Radley"/>
              </a:rPr>
              <a:t>DESIGN LINK: </a:t>
            </a:r>
            <a:r>
              <a:rPr lang="en-US" sz="2799" dirty="0">
                <a:solidFill>
                  <a:srgbClr val="4D664D"/>
                </a:solidFill>
                <a:latin typeface="Radley"/>
                <a:ea typeface="Radley"/>
                <a:cs typeface="Radley"/>
                <a:sym typeface="Radley"/>
                <a:hlinkClick r:id="rId2"/>
              </a:rPr>
              <a:t>https://www.figma.com/design/UaDRXCFUHRDYz2WPkMcoRx/CLOTH-SHOPPING-APP--Community-?node-id=0-1&amp;p=f&amp;t=RP8dxm4tBiMIf1De-0</a:t>
            </a:r>
            <a:r>
              <a:rPr lang="en-US" sz="2799" b="1" dirty="0">
                <a:solidFill>
                  <a:srgbClr val="4D664D"/>
                </a:solidFill>
                <a:latin typeface="Radley"/>
                <a:ea typeface="Radley"/>
                <a:cs typeface="Radley"/>
                <a:sym typeface="Radley"/>
              </a:rPr>
              <a:t> </a:t>
            </a:r>
            <a:endParaRPr lang="en-US" sz="2799" dirty="0">
              <a:solidFill>
                <a:srgbClr val="4D664D"/>
              </a:solidFill>
              <a:latin typeface="Radley"/>
              <a:ea typeface="Radley"/>
              <a:cs typeface="Radley"/>
              <a:sym typeface="Radley"/>
            </a:endParaRPr>
          </a:p>
          <a:p>
            <a:pPr marL="0" lvl="0" indent="0" algn="l">
              <a:lnSpc>
                <a:spcPts val="3919"/>
              </a:lnSpc>
              <a:spcBef>
                <a:spcPct val="0"/>
              </a:spcBef>
            </a:pPr>
            <a:r>
              <a:rPr lang="en-US" sz="2799" dirty="0">
                <a:solidFill>
                  <a:srgbClr val="4D664D"/>
                </a:solidFill>
                <a:latin typeface="Radley"/>
                <a:ea typeface="Radley"/>
                <a:cs typeface="Radley"/>
                <a:sym typeface="Radley"/>
              </a:rPr>
              <a:t>PROTOTYPE LINK: </a:t>
            </a:r>
          </a:p>
          <a:p>
            <a:pPr lvl="0">
              <a:lnSpc>
                <a:spcPts val="3919"/>
              </a:lnSpc>
              <a:spcBef>
                <a:spcPct val="0"/>
              </a:spcBef>
            </a:pPr>
            <a:r>
              <a:rPr lang="en-US" sz="2799" dirty="0">
                <a:solidFill>
                  <a:srgbClr val="4D664D"/>
                </a:solidFill>
                <a:latin typeface="Radley"/>
                <a:ea typeface="Radley"/>
                <a:cs typeface="Radley"/>
                <a:sym typeface="Radley"/>
                <a:hlinkClick r:id="rId3"/>
              </a:rPr>
              <a:t>https://www.figma.com/proto/UaDRXCFUHRDYz2WPkMcoRx/CLOTH-SHOPPING-APP--Community-?node-id=133-7&amp;p=f&amp;t=RP8dxm4tBiMIf1De-0&amp;scaling=min-zoom&amp;content-scaling=fixed&amp;page-id=0%3A1&amp;starting-point-node-id=133%3A7&amp;show-proto-sidebar=1</a:t>
            </a:r>
            <a:r>
              <a:rPr lang="en-US" sz="2799" dirty="0">
                <a:solidFill>
                  <a:srgbClr val="4D664D"/>
                </a:solidFill>
                <a:latin typeface="Radley"/>
                <a:ea typeface="Radley"/>
                <a:cs typeface="Radley"/>
                <a:sym typeface="Radley"/>
              </a:rPr>
              <a:t> </a:t>
            </a:r>
          </a:p>
        </p:txBody>
      </p:sp>
      <p:sp>
        <p:nvSpPr>
          <p:cNvPr id="3" name="TextBox 3"/>
          <p:cNvSpPr txBox="1"/>
          <p:nvPr/>
        </p:nvSpPr>
        <p:spPr>
          <a:xfrm>
            <a:off x="666750" y="809625"/>
            <a:ext cx="12639675" cy="920750"/>
          </a:xfrm>
          <a:prstGeom prst="rect">
            <a:avLst/>
          </a:prstGeom>
        </p:spPr>
        <p:txBody>
          <a:bodyPr lIns="0" tIns="0" rIns="0" bIns="0" rtlCol="0" anchor="t">
            <a:spAutoFit/>
          </a:bodyPr>
          <a:lstStyle/>
          <a:p>
            <a:pPr marL="0" lvl="0" indent="0" algn="l">
              <a:lnSpc>
                <a:spcPts val="6999"/>
              </a:lnSpc>
            </a:pPr>
            <a:r>
              <a:rPr lang="en-US" sz="6999">
                <a:solidFill>
                  <a:srgbClr val="4D664D"/>
                </a:solidFill>
                <a:latin typeface="Radley"/>
                <a:ea typeface="Radley"/>
                <a:cs typeface="Radley"/>
                <a:sym typeface="Radley"/>
              </a:rPr>
              <a:t>Links Of the App </a:t>
            </a:r>
          </a:p>
        </p:txBody>
      </p:sp>
      <p:sp>
        <p:nvSpPr>
          <p:cNvPr id="4" name="AutoShape 4"/>
          <p:cNvSpPr/>
          <p:nvPr/>
        </p:nvSpPr>
        <p:spPr>
          <a:xfrm flipV="1">
            <a:off x="666760" y="2099310"/>
            <a:ext cx="12639665" cy="0"/>
          </a:xfrm>
          <a:prstGeom prst="line">
            <a:avLst/>
          </a:prstGeom>
          <a:ln w="19050" cap="flat">
            <a:solidFill>
              <a:srgbClr val="4D664D"/>
            </a:solidFill>
            <a:prstDash val="solid"/>
            <a:headEnd type="none" w="sm" len="sm"/>
            <a:tailEnd type="none" w="sm" len="sm"/>
          </a:ln>
        </p:spPr>
      </p:sp>
      <p:grpSp>
        <p:nvGrpSpPr>
          <p:cNvPr id="5" name="Group 5"/>
          <p:cNvGrpSpPr/>
          <p:nvPr/>
        </p:nvGrpSpPr>
        <p:grpSpPr>
          <a:xfrm>
            <a:off x="666750" y="9184102"/>
            <a:ext cx="2171730" cy="2205796"/>
            <a:chOff x="0" y="0"/>
            <a:chExt cx="812800" cy="825500"/>
          </a:xfrm>
        </p:grpSpPr>
        <p:sp>
          <p:nvSpPr>
            <p:cNvPr id="6" name="Freeform 6"/>
            <p:cNvSpPr/>
            <p:nvPr/>
          </p:nvSpPr>
          <p:spPr>
            <a:xfrm>
              <a:off x="1270" y="0"/>
              <a:ext cx="810260" cy="822960"/>
            </a:xfrm>
            <a:custGeom>
              <a:avLst/>
              <a:gdLst/>
              <a:ahLst/>
              <a:cxnLst/>
              <a:rect l="l" t="t" r="r" b="b"/>
              <a:pathLst>
                <a:path w="810260" h="822960">
                  <a:moveTo>
                    <a:pt x="405130" y="0"/>
                  </a:moveTo>
                  <a:lnTo>
                    <a:pt x="450850" y="151130"/>
                  </a:lnTo>
                  <a:lnTo>
                    <a:pt x="546100" y="25400"/>
                  </a:lnTo>
                  <a:lnTo>
                    <a:pt x="537210" y="181610"/>
                  </a:lnTo>
                  <a:lnTo>
                    <a:pt x="669290" y="96520"/>
                  </a:lnTo>
                  <a:lnTo>
                    <a:pt x="608330" y="241300"/>
                  </a:lnTo>
                  <a:lnTo>
                    <a:pt x="760730" y="205740"/>
                  </a:lnTo>
                  <a:lnTo>
                    <a:pt x="654050" y="321310"/>
                  </a:lnTo>
                  <a:lnTo>
                    <a:pt x="810260" y="340360"/>
                  </a:lnTo>
                  <a:lnTo>
                    <a:pt x="669290" y="411480"/>
                  </a:lnTo>
                  <a:lnTo>
                    <a:pt x="810260" y="482600"/>
                  </a:lnTo>
                  <a:lnTo>
                    <a:pt x="654050" y="501650"/>
                  </a:lnTo>
                  <a:lnTo>
                    <a:pt x="760730" y="617220"/>
                  </a:lnTo>
                  <a:lnTo>
                    <a:pt x="608330" y="581660"/>
                  </a:lnTo>
                  <a:lnTo>
                    <a:pt x="669290" y="726440"/>
                  </a:lnTo>
                  <a:lnTo>
                    <a:pt x="537210" y="640080"/>
                  </a:lnTo>
                  <a:lnTo>
                    <a:pt x="546100" y="797560"/>
                  </a:lnTo>
                  <a:lnTo>
                    <a:pt x="450850" y="671830"/>
                  </a:lnTo>
                  <a:lnTo>
                    <a:pt x="405130" y="822960"/>
                  </a:lnTo>
                  <a:lnTo>
                    <a:pt x="359410" y="671830"/>
                  </a:lnTo>
                  <a:lnTo>
                    <a:pt x="264160" y="797560"/>
                  </a:lnTo>
                  <a:lnTo>
                    <a:pt x="273050" y="640080"/>
                  </a:lnTo>
                  <a:lnTo>
                    <a:pt x="140970" y="726440"/>
                  </a:lnTo>
                  <a:lnTo>
                    <a:pt x="201930" y="581660"/>
                  </a:lnTo>
                  <a:lnTo>
                    <a:pt x="49530" y="617220"/>
                  </a:lnTo>
                  <a:lnTo>
                    <a:pt x="156210" y="501650"/>
                  </a:lnTo>
                  <a:lnTo>
                    <a:pt x="0" y="482600"/>
                  </a:lnTo>
                  <a:lnTo>
                    <a:pt x="140970" y="411480"/>
                  </a:lnTo>
                  <a:lnTo>
                    <a:pt x="0" y="340360"/>
                  </a:lnTo>
                  <a:lnTo>
                    <a:pt x="156210" y="321310"/>
                  </a:lnTo>
                  <a:lnTo>
                    <a:pt x="49530" y="205740"/>
                  </a:lnTo>
                  <a:lnTo>
                    <a:pt x="201930" y="241300"/>
                  </a:lnTo>
                  <a:lnTo>
                    <a:pt x="140970" y="96520"/>
                  </a:lnTo>
                  <a:lnTo>
                    <a:pt x="273050" y="181610"/>
                  </a:lnTo>
                  <a:lnTo>
                    <a:pt x="264160" y="25400"/>
                  </a:lnTo>
                  <a:lnTo>
                    <a:pt x="359410" y="151130"/>
                  </a:lnTo>
                  <a:close/>
                </a:path>
              </a:pathLst>
            </a:custGeom>
            <a:solidFill>
              <a:srgbClr val="6A8F66"/>
            </a:solidFill>
          </p:spPr>
        </p:sp>
        <p:sp>
          <p:nvSpPr>
            <p:cNvPr id="7" name="TextBox 7"/>
            <p:cNvSpPr txBox="1"/>
            <p:nvPr/>
          </p:nvSpPr>
          <p:spPr>
            <a:xfrm>
              <a:off x="141746" y="112576"/>
              <a:ext cx="529308" cy="559367"/>
            </a:xfrm>
            <a:prstGeom prst="rect">
              <a:avLst/>
            </a:prstGeom>
          </p:spPr>
          <p:txBody>
            <a:bodyPr lIns="50800" tIns="50800" rIns="50800" bIns="50800" rtlCol="0" anchor="ctr"/>
            <a:lstStyle/>
            <a:p>
              <a:pPr marL="0" lvl="0" indent="0" algn="ctr">
                <a:lnSpc>
                  <a:spcPts val="33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404</Words>
  <Application>Microsoft Office PowerPoint</Application>
  <PresentationFormat>Custom</PresentationFormat>
  <Paragraphs>50</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Radley Italics</vt:lpstr>
      <vt:lpstr>Calibri</vt:lpstr>
      <vt:lpstr>Canva Sans Bold</vt:lpstr>
      <vt:lpstr>Radley</vt:lpstr>
      <vt:lpstr>Carlito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Eco Sustainable</dc:title>
  <dc:creator>Dibyajyoti</dc:creator>
  <dc:description>Presentation - Eco Sustainable</dc:description>
  <cp:lastModifiedBy>Dibyajyoti Swain</cp:lastModifiedBy>
  <cp:revision>3</cp:revision>
  <dcterms:created xsi:type="dcterms:W3CDTF">2006-08-16T00:00:00Z</dcterms:created>
  <dcterms:modified xsi:type="dcterms:W3CDTF">2026-10-30T06:43:13Z</dcterms:modified>
  <dc:identifier>DAG8JVh2Uhg</dc:identifier>
</cp:coreProperties>
</file>